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566928"/>
            <a:ext cx="1965960" cy="31089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0D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576072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3C2A9"/>
                </a:solidFill>
                <a:latin typeface="Aptos"/>
              </a:rPr>
              <a:t>STARTUP PITCH |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80467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1F7F6"/>
                </a:solidFill>
                <a:latin typeface="Aptos Display"/>
              </a:rPr>
              <a:t>Control and proof
for enterprise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182112"/>
            <a:ext cx="69494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9EB1B0"/>
                </a:solidFill>
                <a:latin typeface="Aptos"/>
              </a:rPr>
              <a:t>Salanor helps regulated teams use AI without losing control of data, decisions, or 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901184"/>
            <a:ext cx="5897880" cy="27431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518464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1F7F6"/>
                </a:solidFill>
                <a:latin typeface="Aptos"/>
              </a:rPr>
              <a:t>Landry Bougang Fotso  |  Founder &amp; CEO  |  Kigali, Rwanda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56052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3C2A9"/>
                </a:solidFill>
                <a:latin typeface="Aptos"/>
              </a:rPr>
              <a:t>salanor.com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17320"/>
            <a:ext cx="3063240" cy="4133087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1874519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3C2A9"/>
                </a:solidFill>
                <a:latin typeface="Aptos"/>
              </a:rPr>
              <a:t>THINK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249424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1F7F6"/>
                </a:solidFill>
                <a:latin typeface="Aptos Display"/>
              </a:rPr>
              <a:t>Stoa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2770632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Governed AI workspace
and gateway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68512" y="3520440"/>
            <a:ext cx="2350008" cy="27431"/>
          </a:xfrm>
          <a:prstGeom prst="rect">
            <a:avLst/>
          </a:prstGeom>
          <a:solidFill>
            <a:srgbClr val="2A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3822191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3C2A9"/>
                </a:solidFill>
                <a:latin typeface="Aptos"/>
              </a:rP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4197096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1F7F6"/>
                </a:solidFill>
                <a:latin typeface="Aptos Display"/>
              </a:rPr>
              <a:t>Aegis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718304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Policy, approval
and signed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AI enters the enterprise through two doors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Both create risk. Most control stacks cover only part of the journey.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5349240" cy="33375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4414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7B65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414016"/>
            <a:ext cx="446227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People use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944368"/>
            <a:ext cx="4837175" cy="2441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EB1B0"/>
                </a:solidFill>
                <a:latin typeface="Aptos"/>
              </a:rPr>
              <a:t>Staff paste contracts, claims, customer data, and internal documents into personal AI accounts.
Leadership gets productivity, but no reliable control over data exposure, model choice, or retention.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240280"/>
            <a:ext cx="5349240" cy="33375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4414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66A6A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414016"/>
            <a:ext cx="446227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AI systems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944368"/>
            <a:ext cx="4837175" cy="2441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EB1B0"/>
                </a:solidFill>
                <a:latin typeface="Aptos"/>
              </a:rPr>
              <a:t>Agents call APIs, update records, move money, and trigger workflows.
When something goes wrong, logs rarely show who authorized the action, which policy applied, or whether a human approved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879592"/>
            <a:ext cx="9235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1F7F6"/>
                </a:solidFill>
                <a:latin typeface="Aptos"/>
              </a:rPr>
              <a:t>Blocking AI does not solve adoption. Uncontrolled AI does not survive audit.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Capability moved faster than enterprise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The gap is no longer theoretical. It appears in daily work, real workflows, and regulatory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3520440" cy="31089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441448"/>
            <a:ext cx="263347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Model choice is fragmenting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971800"/>
            <a:ext cx="3008376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Employees and developers can reach many frontier models. One vendor policy cannot govern the whole estate.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267712"/>
            <a:ext cx="3520440" cy="31089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441448"/>
            <a:ext cx="263347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Actions are becoming autonomous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971800"/>
            <a:ext cx="3008376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AI is moving from drafting answers to operating tools. Control must run before the action, not after an incident.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2267712"/>
            <a:ext cx="3520440" cy="31089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441448"/>
            <a:ext cx="263347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Evidence is becoming mandatory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971800"/>
            <a:ext cx="3008376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Regulated teams need logs, accountability, retention, and intervention. Screenshots and prompt history are not a control 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742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3C2A9"/>
                </a:solidFill>
                <a:latin typeface="Aptos"/>
              </a:rPr>
              <a:t>Design implication: governance must sit between identity, data, models, and tools.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1447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Sources: EU AI Act logging obligations; Anthropic Threat Intelligence Report, September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One control plane for how people think and systems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A familiar AI experience on top. Identity, policy, redaction, approval, and evidence underneath.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5230368" cy="33375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43C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532888"/>
            <a:ext cx="1691640" cy="31089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0D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4203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3C2A9"/>
                </a:solidFill>
                <a:latin typeface="Aptos"/>
              </a:rPr>
              <a:t>PRODUCT 1 | ADOPT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7F6"/>
                </a:solidFill>
                <a:latin typeface="Aptos Display"/>
              </a:rPr>
              <a:t>Stoa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EB1B0"/>
                </a:solidFill>
                <a:latin typeface="Aptos"/>
              </a:rPr>
              <a:t>A governed AI workspace and gateway for staff, apps, and approved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70832"/>
            <a:ext cx="420624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>
                <a:solidFill>
                  <a:srgbClr val="F1F7F6"/>
                </a:solidFill>
                <a:latin typeface="Aptos"/>
              </a:rPr>
              <a:t>•  DLP before the provider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>
                <a:solidFill>
                  <a:srgbClr val="F1F7F6"/>
                </a:solidFill>
                <a:latin typeface="Aptos"/>
              </a:rPr>
              <a:t>•  Work identity and policy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>
                <a:solidFill>
                  <a:srgbClr val="F1F7F6"/>
                </a:solidFill>
                <a:latin typeface="Aptos"/>
              </a:rPr>
              <a:t>•  Audit and retention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2240280"/>
            <a:ext cx="5230368" cy="33375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43C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38544" y="2532888"/>
            <a:ext cx="1508760" cy="31089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0D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254203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3C2A9"/>
                </a:solidFill>
                <a:latin typeface="Aptos"/>
              </a:rPr>
              <a:t>PRODUCT 2 | EXPAND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299923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1F7F6"/>
                </a:solidFill>
                <a:latin typeface="Aptos Display"/>
              </a:rPr>
              <a:t>Aegis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56616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EB1B0"/>
                </a:solidFill>
                <a:latin typeface="Aptos"/>
              </a:rPr>
              <a:t>Runtime governance for AI tools, APIs, payments, and operational workflows.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4370832"/>
            <a:ext cx="43891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>
                <a:solidFill>
                  <a:srgbClr val="F1F7F6"/>
                </a:solidFill>
                <a:latin typeface="Aptos"/>
              </a:rPr>
              <a:t>•  Allow, deny, or require approval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>
                <a:solidFill>
                  <a:srgbClr val="F1F7F6"/>
                </a:solidFill>
                <a:latin typeface="Aptos"/>
              </a:rPr>
              <a:t>•  Signed causal trace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>
                <a:solidFill>
                  <a:srgbClr val="F1F7F6"/>
                </a:solidFill>
                <a:latin typeface="Aptos"/>
              </a:rPr>
              <a:t>•  Exportable compliance evidence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70448" y="3767328"/>
            <a:ext cx="438912" cy="292608"/>
          </a:xfrm>
          <a:prstGeom prst="rightArrow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5852160"/>
            <a:ext cx="6629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43C2A9"/>
                </a:solidFill>
                <a:latin typeface="Aptos"/>
              </a:rPr>
              <a:t>Same identity | same policy | same audit 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PRODUCT | STOA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The company-approved place to use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ChatGPT-class usability with controls that enterprise buyers can explain.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67128"/>
            <a:ext cx="384048" cy="31089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0D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3C2A9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1488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Work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14884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Users sign in through the organisation, not personal AI accounts.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36392"/>
            <a:ext cx="384048" cy="31089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0D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4553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3C2A9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11810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Policy and DLP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118104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Prompts and files are scanned. Sensitive values are masked or blocked before the provider.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05656"/>
            <a:ext cx="384048" cy="31089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0D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3C2A9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0873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Approved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08736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One workspace routes to the models and contracts the organisation permits.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074920"/>
            <a:ext cx="384048" cy="31089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0D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8406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3C2A9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5056632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Visible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056632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Users can see what the model received. Admins get metadata, audit, retention, and exports.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6062472"/>
            <a:ext cx="10671048" cy="27432"/>
          </a:xfrm>
          <a:prstGeom prst="rect">
            <a:avLst/>
          </a:prstGeom>
          <a:solidFill>
            <a:srgbClr val="2A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623620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3C2A9"/>
                </a:solidFill>
                <a:latin typeface="Aptos"/>
              </a:rPr>
              <a:t>Deployment: multi-tenant SaaS | dedicated tenant | private customer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PRODUCT | 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Govern the action before it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Policy enforcement and human approval in the path of sensitive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95728"/>
            <a:ext cx="2331720" cy="2395728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6151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035808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1F7F6"/>
                </a:solidFill>
                <a:latin typeface="Aptos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593592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Attempts a refund,
payout, export, or
admin change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63239" y="3401568"/>
            <a:ext cx="384048" cy="292608"/>
          </a:xfrm>
          <a:prstGeom prst="rightArrow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47872" y="2395728"/>
            <a:ext cx="2331720" cy="2395728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26151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035808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1F7F6"/>
                </a:solidFill>
                <a:latin typeface="Aptos"/>
              </a:rP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593592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Evaluates identity,
context, amount,
and rule version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52744" y="3401568"/>
            <a:ext cx="384048" cy="292608"/>
          </a:xfrm>
          <a:prstGeom prst="rightArrow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7376" y="2395728"/>
            <a:ext cx="2331720" cy="2395728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26151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3035808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1F7F6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3593592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Allow | deny |
require named
approval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42248" y="3401568"/>
            <a:ext cx="384048" cy="292608"/>
          </a:xfrm>
          <a:prstGeom prst="rightArrow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2395728"/>
            <a:ext cx="2331720" cy="2395728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6336" y="26151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6" y="3035808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1F7F6"/>
                </a:solidFill>
                <a:latin typeface="Aptos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3593592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Signed trace,
verification, and
audit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5230368"/>
            <a:ext cx="10058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1F7F6"/>
                </a:solidFill>
                <a:latin typeface="Aptos"/>
              </a:rPr>
              <a:t>Built for the moment AI stops being a chat and starts changing the world around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797296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3C2A9"/>
                </a:solidFill>
                <a:latin typeface="Aptos"/>
              </a:rPr>
              <a:t>APS-1 signed events | policy p50 below 5ms target | Merkle witness | compliance bundles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Control stays close to the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One trust zone for chat, gateway, policy, and audit. Customer-approved providers remain replaceable.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12848"/>
            <a:ext cx="2011680" cy="24231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487168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090672"/>
            <a:ext cx="15727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SSO / OIDC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Users and roles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Service accounts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2212848"/>
            <a:ext cx="2011680" cy="24231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2487168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090672"/>
            <a:ext cx="15727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Policy engine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DLP / redaction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Approval 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2212848"/>
            <a:ext cx="2011680" cy="24231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487168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090672"/>
            <a:ext cx="15727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Stoa web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AI gateway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SDK / n8n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6" y="2212848"/>
            <a:ext cx="2011680" cy="24231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2" y="2487168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3090672"/>
            <a:ext cx="15727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Signed events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Trace and verify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Retention / 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10928" y="2212848"/>
            <a:ext cx="1828800" cy="242316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0384" y="2487168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Providers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3090672"/>
            <a:ext cx="138988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OpenAI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Anthropic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>
                <a:solidFill>
                  <a:srgbClr val="9EB1B0"/>
                </a:solidFill>
                <a:latin typeface="Aptos"/>
              </a:rPr>
              <a:t>•  Google / Azure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120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3C2A9"/>
                </a:solidFill>
                <a:latin typeface="Aptos"/>
              </a:rPr>
              <a:t>SaaS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51206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3C2A9"/>
                </a:solidFill>
                <a:latin typeface="Aptos"/>
              </a:rPr>
              <a:t>Dedicated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1206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3C2A9"/>
                </a:solidFill>
                <a:latin typeface="Aptos"/>
              </a:rPr>
              <a:t>Private cloud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05272"/>
            <a:ext cx="9966960" cy="27432"/>
          </a:xfrm>
          <a:prstGeom prst="rect">
            <a:avLst/>
          </a:prstGeom>
          <a:solidFill>
            <a:srgbClr val="2A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9729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Customer BYOK | metadata-first logging | configurable retention | no source-code transfer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One customer workflow, governed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Support work starts in Stoa. A refund action is governed by Aegis.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30552"/>
            <a:ext cx="3401568" cy="146304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3317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29514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825496"/>
            <a:ext cx="29992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Invoice or complaint enters Stoa.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130552"/>
            <a:ext cx="3401568" cy="146304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23317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7" y="229514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Protect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2825496"/>
            <a:ext cx="29992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Names, IDs, email, phone, and account data are redacted.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130552"/>
            <a:ext cx="3401568" cy="146304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3317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29514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Reason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25496"/>
            <a:ext cx="29992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Approved model receives only the protected payload.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05072"/>
            <a:ext cx="3401568" cy="146304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2062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4169663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700016"/>
            <a:ext cx="29992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Agent proposes a USD 2,500 refund.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005072"/>
            <a:ext cx="3401568" cy="146304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7" y="42062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7" y="4169663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7" y="4700016"/>
            <a:ext cx="29992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Policy pauses the call above USD 1,000.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02752" y="4005072"/>
            <a:ext cx="3401568" cy="1463040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42062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169663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700016"/>
            <a:ext cx="29992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Named approval and signed trace are exported.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25312"/>
            <a:ext cx="10561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3C2A9"/>
                </a:solidFill>
                <a:latin typeface="Aptos"/>
              </a:rPr>
              <a:t>Result: familiar AI productivity without losing control of secrets, money, or accountability.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GO TO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Start where AI risk is already budgeted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Sell one measurable control problem, then expand across the organisation.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12848"/>
            <a:ext cx="3429000" cy="3456432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41401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386584"/>
            <a:ext cx="25420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Beachhead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916936"/>
            <a:ext cx="291693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Regulated teams with active AI use:
• Fintech and payments
• Insurance operations
• Law, audit, and consulting
• Bank innovation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212848"/>
            <a:ext cx="3429000" cy="3456432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41401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2386584"/>
            <a:ext cx="254203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916936"/>
            <a:ext cx="291693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A paid 4 to 8 week pilot on one workflow:
• Sensitive AI workspace
• Refund or payout gate
• KYC escalation
• Customer-data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5592" y="2212848"/>
            <a:ext cx="3429000" cy="3456432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41401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386584"/>
            <a:ext cx="254203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916936"/>
            <a:ext cx="291693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From one team to the control plane:
• More users and models
• Gateway for internal apps
• Aegis on sensitive actions
• Dedicated or private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907024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3C2A9"/>
                </a:solidFill>
                <a:latin typeface="Aptos"/>
              </a:rPr>
              <a:t>Channel leverage: implementation partners, legal/compliance firms, and regional cloud partners.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Recurring software revenue with paid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Customers pay Salanor for control and evidence. Enterprise model usage stays BYOK.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12848"/>
            <a:ext cx="3383280" cy="3310128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41401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386584"/>
            <a:ext cx="24963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916936"/>
            <a:ext cx="2871216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USD 2k to 8k implementation
One workflow or one team
4 to 8 weeks
Defined success criteria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212848"/>
            <a:ext cx="3383280" cy="3310128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41401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2386584"/>
            <a:ext cx="24963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16936"/>
            <a:ext cx="2871216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Aegis Team from USD 299/month
Stoa seats or user bands
Annual enterprise contracts
Support and retention tiers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2212848"/>
            <a:ext cx="3383280" cy="3310128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241401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3C2A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2386584"/>
            <a:ext cx="249631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7F6"/>
                </a:solidFill>
                <a:latin typeface="Aptos"/>
              </a:rPr>
              <a:t>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916936"/>
            <a:ext cx="2871216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Setup + annual platform + committed user band
Dedicated or private deployment
SLA, SSO, SIEM, policy packs
Customer-owned model 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85216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3C2A9"/>
                </a:solidFill>
                <a:latin typeface="Aptos"/>
              </a:rPr>
              <a:t>Expansion engine: workspace users lead to gateway volume and governed 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The missing layer between AI access and AI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Salanor does not replace models, identity, SIEM, or workflow engines. It connects their controls.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176272"/>
            <a:ext cx="10927080" cy="585216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31343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1F7F6"/>
                </a:solidFill>
                <a:latin typeface="Aptos"/>
              </a:rPr>
              <a:t>Consumer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13432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Excellent user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13432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No organisation-specific control or 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926080"/>
            <a:ext cx="10927080" cy="585216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063240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1F7F6"/>
                </a:solidFill>
                <a:latin typeface="Aptos"/>
              </a:rPr>
              <a:t>Enterprise copilots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06324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Suite-native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063240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Bound to one ecosystem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675887"/>
            <a:ext cx="10927080" cy="585216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13048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1F7F6"/>
                </a:solidFill>
                <a:latin typeface="Aptos"/>
              </a:rPr>
              <a:t>AI gateways / DLP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813048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Protect model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13048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Limited action-level governance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425696"/>
            <a:ext cx="10927080" cy="585216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562856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1F7F6"/>
                </a:solidFill>
                <a:latin typeface="Aptos"/>
              </a:rPr>
              <a:t>Observability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562856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Helps engineers debug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562856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Logs are not signed policy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175504"/>
            <a:ext cx="10927080" cy="58521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43C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5312664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5312664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EB1B0"/>
                </a:solidFill>
                <a:latin typeface="Aptos"/>
              </a:rPr>
              <a:t>Workspace + gateway + action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312664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1F7F6"/>
                </a:solidFill>
                <a:latin typeface="Aptos"/>
              </a:rPr>
              <a:t>One policy and evidence plane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1883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97F7F"/>
                </a:solidFill>
                <a:latin typeface="Aptos"/>
              </a:rPr>
              <a:t>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188366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97F7F"/>
                </a:solidFill>
                <a:latin typeface="Aptos"/>
              </a:rPr>
              <a:t>What it does well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88366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97F7F"/>
                </a:solidFill>
                <a:latin typeface="Aptos"/>
              </a:rPr>
              <a:t>Control gap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The platform exists. The next proof is commercial.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Early access product, working end-to-end demos, and a clear design-partner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39696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3C2A9"/>
                </a:solidFill>
                <a:latin typeface="Aptos"/>
              </a:rPr>
              <a:t>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87752"/>
            <a:ext cx="52578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200">
                <a:solidFill>
                  <a:srgbClr val="F1F7F6"/>
                </a:solidFill>
                <a:latin typeface="Aptos"/>
              </a:rPr>
              <a:t>•  Stoa workspace: multi-model chat, file protection, DLP, admin, audit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200">
                <a:solidFill>
                  <a:srgbClr val="F1F7F6"/>
                </a:solidFill>
                <a:latin typeface="Aptos"/>
              </a:rPr>
              <a:t>•  Aegis: policy, approvals, signed traces, verification, compliance export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200">
                <a:solidFill>
                  <a:srgbClr val="F1F7F6"/>
                </a:solidFill>
                <a:latin typeface="Aptos"/>
              </a:rPr>
              <a:t>•  Shared identity, organisation isolation, provider configuration, retention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200">
                <a:solidFill>
                  <a:srgbClr val="F1F7F6"/>
                </a:solidFill>
                <a:latin typeface="Aptos"/>
              </a:rPr>
              <a:t>•  SDK and reference workflow for a governed support-to-refund scenario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121408"/>
            <a:ext cx="27431" cy="3593592"/>
          </a:xfrm>
          <a:prstGeom prst="rect">
            <a:avLst/>
          </a:prstGeom>
          <a:solidFill>
            <a:srgbClr val="2A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3969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7B65F"/>
                </a:solidFill>
                <a:latin typeface="Aptos"/>
              </a:rPr>
              <a:t>NEXT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87752"/>
            <a:ext cx="4754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200">
                <a:solidFill>
                  <a:srgbClr val="F1F7F6"/>
                </a:solidFill>
                <a:latin typeface="Aptos"/>
              </a:rPr>
              <a:t>•  First paid design partner on one high-risk workflow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200">
                <a:solidFill>
                  <a:srgbClr val="F1F7F6"/>
                </a:solidFill>
                <a:latin typeface="Aptos"/>
              </a:rPr>
              <a:t>•  Security and procurement pack tested with a regulated buyer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200">
                <a:solidFill>
                  <a:srgbClr val="F1F7F6"/>
                </a:solidFill>
                <a:latin typeface="Aptos"/>
              </a:rPr>
              <a:t>•  Reference case with measurable control and audit outcomes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1200">
                <a:solidFill>
                  <a:srgbClr val="F1F7F6"/>
                </a:solidFill>
                <a:latin typeface="Aptos"/>
              </a:rPr>
              <a:t>•  Repeatable dedicated and private deployment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43600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EB1B0"/>
                </a:solidFill>
                <a:latin typeface="Aptos"/>
              </a:rPr>
              <a:t>Stage: early access | No customer or revenue numbers are claimed in this deck.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A focused 12-month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EB1B0"/>
                </a:solidFill>
                <a:latin typeface="Aptos"/>
              </a:rPr>
              <a:t>Commercial validation first. Enterprise breadth follows customer pull.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67712"/>
            <a:ext cx="3401568" cy="3218688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523744"/>
            <a:ext cx="1234440" cy="31089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0D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532887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3C2A9"/>
                </a:solidFill>
                <a:latin typeface="Aptos"/>
              </a:rPr>
              <a:t>0 TO 3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63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1F7F6"/>
                </a:solidFill>
                <a:latin typeface="Aptos Display"/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776472"/>
            <a:ext cx="285292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>
                <a:solidFill>
                  <a:srgbClr val="9EB1B0"/>
                </a:solidFill>
                <a:latin typeface="Aptos"/>
              </a:rPr>
              <a:t>•  2 paid pilots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>
                <a:solidFill>
                  <a:srgbClr val="9EB1B0"/>
                </a:solidFill>
                <a:latin typeface="Aptos"/>
              </a:rPr>
              <a:t>•  One reference workflow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>
                <a:solidFill>
                  <a:srgbClr val="9EB1B0"/>
                </a:solidFill>
                <a:latin typeface="Aptos"/>
              </a:rPr>
              <a:t>•  Buyer-approved success criteria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267712"/>
            <a:ext cx="3401568" cy="3218688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9159" y="2523744"/>
            <a:ext cx="1234440" cy="31089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0D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532887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3C2A9"/>
                </a:solidFill>
                <a:latin typeface="Aptos"/>
              </a:rPr>
              <a:t>3 TO 6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063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1F7F6"/>
                </a:solidFill>
                <a:latin typeface="Aptos Display"/>
              </a:rPr>
              <a:t>Package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776472"/>
            <a:ext cx="285292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>
                <a:solidFill>
                  <a:srgbClr val="9EB1B0"/>
                </a:solidFill>
                <a:latin typeface="Aptos"/>
              </a:rPr>
              <a:t>•  SSO hardening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>
                <a:solidFill>
                  <a:srgbClr val="9EB1B0"/>
                </a:solidFill>
                <a:latin typeface="Aptos"/>
              </a:rPr>
              <a:t>•  Dedicated deployment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>
                <a:solidFill>
                  <a:srgbClr val="9EB1B0"/>
                </a:solidFill>
                <a:latin typeface="Aptos"/>
              </a:rPr>
              <a:t>•  Security and DPA pack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2267712"/>
            <a:ext cx="3401568" cy="3218688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31352" y="2523744"/>
            <a:ext cx="1234440" cy="31089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0D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2532887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3C2A9"/>
                </a:solidFill>
                <a:latin typeface="Aptos"/>
              </a:rPr>
              <a:t>6 TO 12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063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1F7F6"/>
                </a:solidFill>
                <a:latin typeface="Aptos Display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3776472"/>
            <a:ext cx="285292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>
                <a:solidFill>
                  <a:srgbClr val="9EB1B0"/>
                </a:solidFill>
                <a:latin typeface="Aptos"/>
              </a:rPr>
              <a:t>•  Gateway adoption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>
                <a:solidFill>
                  <a:srgbClr val="9EB1B0"/>
                </a:solidFill>
                <a:latin typeface="Aptos"/>
              </a:rPr>
              <a:t>•  Aegis action coverage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>
                <a:solidFill>
                  <a:srgbClr val="9EB1B0"/>
                </a:solidFill>
                <a:latin typeface="Aptos"/>
              </a:rPr>
              <a:t>•  Channel-led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521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3C2A9"/>
                </a:solidFill>
                <a:latin typeface="Aptos"/>
              </a:rPr>
              <a:t>Operating rule: do not build enterprise complexity before a buyer requires it in writing.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1F7F6"/>
                </a:solidFill>
                <a:latin typeface="Aptos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97F7F"/>
                </a:solidFill>
                <a:latin typeface="Aptos"/>
              </a:rPr>
              <a:t>TEAM AND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1F7F6"/>
                </a:solidFill>
                <a:latin typeface="Aptos Display"/>
              </a:rPr>
              <a:t>Building the control layer before autonomy becomes 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97F7F"/>
                </a:solidFill>
                <a:latin typeface="Aptos"/>
              </a:rPr>
              <a:t>Confidential | Salanor Ltd |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4892040" cy="3584448"/>
          </a:xfrm>
          <a:prstGeom prst="roundRect">
            <a:avLst/>
          </a:prstGeom>
          <a:solidFill>
            <a:srgbClr val="0F1D22"/>
          </a:solidFill>
          <a:ln w="12700">
            <a:solidFill>
              <a:srgbClr val="2A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2267712"/>
            <a:ext cx="822960" cy="310896"/>
          </a:xfrm>
          <a:prstGeom prst="roundRect">
            <a:avLst/>
          </a:prstGeom>
          <a:solidFill>
            <a:srgbClr val="0D3535"/>
          </a:solidFill>
          <a:ln w="12700">
            <a:solidFill>
              <a:srgbClr val="0D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7685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3C2A9"/>
                </a:solidFill>
                <a:latin typeface="Aptos"/>
              </a:rPr>
              <a:t>FOUNDER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79776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1F7F6"/>
                </a:solidFill>
                <a:latin typeface="Aptos Display"/>
              </a:rPr>
              <a:t>Landry Bougang Fotso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264408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3C2A9"/>
                </a:solidFill>
                <a:latin typeface="Aptos"/>
              </a:rPr>
              <a:t>Founder &amp; CEO | Kigali, Rwanda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822191"/>
            <a:ext cx="4069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EB1B0"/>
                </a:solidFill>
                <a:latin typeface="Aptos"/>
              </a:rPr>
              <a:t>Product and engineering founder building infrastructure for high-stakes AI decisions. Previously built Aether through Rwanda's Plug-In Ventures before focusing Salanor on AI governance.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084831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3C2A9"/>
                </a:solidFill>
                <a:latin typeface="Aptos"/>
              </a:rPr>
              <a:t>WHAT WE ARE LOOKING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651760"/>
            <a:ext cx="498348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500"/>
              </a:spcAft>
            </a:pPr>
            <a:r>
              <a:rPr sz="1300">
                <a:solidFill>
                  <a:srgbClr val="F1F7F6"/>
                </a:solidFill>
                <a:latin typeface="Aptos"/>
              </a:rPr>
              <a:t>•  Two regulated design partners with a real AI workflow</a:t>
            </a:r>
          </a:p>
          <a:p>
            <a:pPr>
              <a:lnSpc>
                <a:spcPct val="100000"/>
              </a:lnSpc>
              <a:spcAft>
                <a:spcPts val="1500"/>
              </a:spcAft>
            </a:pPr>
            <a:r>
              <a:rPr sz="1300">
                <a:solidFill>
                  <a:srgbClr val="F1F7F6"/>
                </a:solidFill>
                <a:latin typeface="Aptos"/>
              </a:rPr>
              <a:t>•  Introductions to CTO, CISO, risk, and compliance leaders</a:t>
            </a:r>
          </a:p>
          <a:p>
            <a:pPr>
              <a:lnSpc>
                <a:spcPct val="100000"/>
              </a:lnSpc>
              <a:spcAft>
                <a:spcPts val="1500"/>
              </a:spcAft>
            </a:pPr>
            <a:r>
              <a:rPr sz="1300">
                <a:solidFill>
                  <a:srgbClr val="F1F7F6"/>
                </a:solidFill>
                <a:latin typeface="Aptos"/>
              </a:rPr>
              <a:t>•  Pre-seed conversations with investors who understand enterprise infrastructure</a:t>
            </a:r>
          </a:p>
          <a:p>
            <a:pPr>
              <a:lnSpc>
                <a:spcPct val="100000"/>
              </a:lnSpc>
              <a:spcAft>
                <a:spcPts val="1500"/>
              </a:spcAft>
            </a:pPr>
            <a:r>
              <a:rPr sz="1300">
                <a:solidFill>
                  <a:srgbClr val="F1F7F6"/>
                </a:solidFill>
                <a:latin typeface="Aptos"/>
              </a:rPr>
              <a:t>•  Partners for SSO, cloud deployment, and legal/compliance delivery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5230368"/>
            <a:ext cx="4892040" cy="27432"/>
          </a:xfrm>
          <a:prstGeom prst="rect">
            <a:avLst/>
          </a:prstGeom>
          <a:solidFill>
            <a:srgbClr val="2A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54864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3C2A9"/>
                </a:solidFill>
                <a:latin typeface="Aptos"/>
              </a:rPr>
              <a:t>landry@salanor.com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54864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F1F7F6"/>
                </a:solidFill>
                <a:latin typeface="Aptos"/>
              </a:rPr>
              <a:t>salanor.com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925312"/>
            <a:ext cx="4983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97F7F"/>
                </a:solidFill>
                <a:latin typeface="Aptos"/>
              </a:rPr>
              <a:t>Financing terms intentionally omitted until round size and milestones are fixed.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Salanor Startup Pitch Deck</dc:title>
  <dc:subject>Control and proof for enterprise AI</dc:subject>
  <dc:creator>Salanor Ltd</dc:creator>
  <cp:keywords/>
  <dc:description>Generated from the Salanor product and commercial documentation. Claims are intentionally limited to capabilities and current early-access status.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