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46E"/>
                </a:solidFill>
                <a:latin typeface="Calibri"/>
              </a:rPr>
              <a:t>SALANOR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402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Aegis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8ECF1"/>
                </a:solidFill>
                <a:latin typeface="Calibri"/>
              </a:rPr>
              <a:t>A signed record of what your AI agents actually did.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5B5"/>
                </a:solidFill>
                <a:latin typeface="Calibri"/>
              </a:rPr>
              <a:t>For compliance, security, and the engineer who gets the message
when something goes wrong.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5B5"/>
                </a:solidFill>
                <a:latin typeface="Calibri"/>
              </a:rPr>
              <a:t>Salanor Ltd  ·  Kigali  ·  Design partner program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73152" cy="411480"/>
          </a:xfrm>
          <a:prstGeom prst="rect">
            <a:avLst/>
          </a:prstGeom>
          <a:solidFill>
            <a:srgbClr val="C8A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gap isn't model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5B5"/>
                </a:solidFill>
                <a:latin typeface="Calibri"/>
              </a:rPr>
              <a:t>Teams want agents on real work — loans, triage, ops. The pain shows up after a bad decision:
nobody can reconstruct what happened in a form an auditor will accept.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2286000"/>
          </a:xfrm>
          <a:prstGeom prst="roundRect">
            <a:avLst/>
          </a:prstGeom>
          <a:solidFill>
            <a:srgbClr val="141A22"/>
          </a:solidFill>
          <a:ln w="12700">
            <a:solidFill>
              <a:srgbClr val="2A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A46E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No record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7180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5B5"/>
                </a:solidFill>
                <a:latin typeface="Calibri"/>
              </a:rPr>
              <a:t>Dozens of steps. Logs missing, incomplete, or split across three tools.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20240"/>
            <a:ext cx="3383280" cy="2286000"/>
          </a:xfrm>
          <a:prstGeom prst="roundRect">
            <a:avLst/>
          </a:prstGeom>
          <a:solidFill>
            <a:srgbClr val="141A22"/>
          </a:solidFill>
          <a:ln w="12700">
            <a:solidFill>
              <a:srgbClr val="2A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103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A46E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No proof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97180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5B5"/>
                </a:solidFill>
                <a:latin typeface="Calibri"/>
              </a:rPr>
              <a:t>Whatever exists can be edited later. That doesn't hold with a regulator.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920240"/>
            <a:ext cx="3383280" cy="2286000"/>
          </a:xfrm>
          <a:prstGeom prst="roundRect">
            <a:avLst/>
          </a:prstGeom>
          <a:solidFill>
            <a:srgbClr val="141A22"/>
          </a:solidFill>
          <a:ln w="12700">
            <a:solidFill>
              <a:srgbClr val="2A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103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A46E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No 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97180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5B5"/>
                </a:solidFill>
                <a:latin typeface="Calibri"/>
              </a:rPr>
              <a:t>Legal, security, and engineering each assume someone else is watching.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63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CF1"/>
                </a:solidFill>
                <a:latin typeface="Calibri"/>
              </a:rPr>
              <a:t>"The gap isn't model safety. It's proving what happened on a Tuesday in March, six months later."
— Model risk lead, top-15 US bank (design partner conversation)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5B5"/>
                </a:solidFill>
                <a:latin typeface="Calibri"/>
              </a:rPr>
              <a:t>Salanor  ·  Aegis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5B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73152" cy="411480"/>
          </a:xfrm>
          <a:prstGeom prst="rect">
            <a:avLst/>
          </a:prstGeom>
          <a:solidFill>
            <a:srgbClr val="C8A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Why this is a real problem — not a vibe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5B5"/>
                </a:solidFill>
                <a:latin typeface="Calibri"/>
              </a:rPr>
              <a:t>We don't invent a $47B scare number. Here's what you can actually point to: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8A46E"/>
                </a:solidFill>
                <a:latin typeface="Calibri"/>
              </a:rPr>
              <a:t>The law already asks for logs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5564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1"/>
                </a:solidFill>
                <a:latin typeface="Calibri"/>
              </a:rPr>
              <a:t>EU AI Act Art. 12: high-risk systems must automatically record events for traceability.
Art. 26: deployers keep those logs (at least 6 months). Miss obligations → fines up to
€15M or 3% of worldwide turnover (Art. 99). Prohibited practices go higher (up to 7%).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8A46E"/>
                </a:solidFill>
                <a:latin typeface="Calibri"/>
              </a:rPr>
              <a:t>"The bot did it" already lost in court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5292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1"/>
                </a:solidFill>
                <a:latin typeface="Calibri"/>
              </a:rPr>
              <a:t>Moffatt v Air Canada (2024, BC tribunal): airline held liable for chatbot misinformation.
Tribunal rejected the idea that the chatbot is a separate entity. You own what it said.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8A46E"/>
                </a:solidFill>
                <a:latin typeface="Calibri"/>
              </a:rPr>
              <a:t>Insurers are drawing lines around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5020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1"/>
                </a:solidFill>
                <a:latin typeface="Calibri"/>
              </a:rPr>
              <a:t>From 2026, ISO generative-AI exclusion endorsements started attaching to many US
CGL renewals. Coverage for agent mistakes is no longer assumed — evidence matters.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8A46E"/>
                </a:solidFill>
                <a:latin typeface="Calibri"/>
              </a:rPr>
              <a:t>Auditors are already asking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4748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1"/>
                </a:solidFill>
                <a:latin typeface="Calibri"/>
              </a:rPr>
              <a:t>When AI is in SOC 2 scope, reviewers want attributable trails: who called what model,
with what tools, and whether that log can be trusted (not rewritten by the app itself).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43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5B5"/>
                </a:solidFill>
                <a:latin typeface="Calibri"/>
              </a:rPr>
              <a:t>Sources: Regulation (EU) 2024/1689; Moffatt v Air Canada, 2024 BCCRT 149; ISO CG 40 47 / market coverage notes; SOC 2 AI practice write-ups 2025–26.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5B5"/>
                </a:solidFill>
                <a:latin typeface="Calibri"/>
              </a:rPr>
              <a:t>Salanor  ·  Aegis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5B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73152" cy="411480"/>
          </a:xfrm>
          <a:prstGeom prst="rect">
            <a:avLst/>
          </a:prstGeom>
          <a:solidFill>
            <a:srgbClr val="C8A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Agents shipped. Evidence didn't.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4114800"/>
          </a:xfrm>
          <a:prstGeom prst="roundRect">
            <a:avLst/>
          </a:prstGeom>
          <a:solidFill>
            <a:srgbClr val="141A22"/>
          </a:solidFill>
          <a:ln w="12700">
            <a:solidFill>
              <a:srgbClr val="2A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8A46E"/>
                </a:solidFill>
                <a:latin typeface="Calibri"/>
              </a:rPr>
              <a:t>What got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4663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0">
                <a:solidFill>
                  <a:srgbClr val="E8ECF1"/>
                </a:solidFill>
                <a:latin typeface="Calibri"/>
              </a:rPr>
              <a:t>LangGraph, CrewAI, OpenAI Agents SDK, MCP, n8n — all optimized to make agents work.</a:t>
            </a:r>
          </a:p>
          <a:p>
            <a:pPr>
              <a:spcAft>
                <a:spcPts val="1400"/>
              </a:spcAft>
            </a:pPr>
            <a:r>
              <a:rPr sz="1500" b="0">
                <a:solidFill>
                  <a:srgbClr val="E8ECF1"/>
                </a:solidFill>
                <a:latin typeface="Calibri"/>
              </a:rPr>
              <a:t>None of them give you a signed, exportable story of what ran.</a:t>
            </a:r>
          </a:p>
          <a:p>
            <a:pPr>
              <a:spcAft>
                <a:spcPts val="1400"/>
              </a:spcAft>
            </a:pPr>
            <a:r>
              <a:rPr sz="1500" b="0">
                <a:solidFill>
                  <a:srgbClr val="E8ECF1"/>
                </a:solidFill>
                <a:latin typeface="Calibri"/>
              </a:rPr>
              <a:t>So people bolt on logs after the fact and hope it holds.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212080" cy="4114800"/>
          </a:xfrm>
          <a:prstGeom prst="roundRect">
            <a:avLst/>
          </a:prstGeom>
          <a:solidFill>
            <a:srgbClr val="141A22"/>
          </a:solidFill>
          <a:ln w="12700">
            <a:solidFill>
              <a:srgbClr val="2A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8A46E"/>
                </a:solidFill>
                <a:latin typeface="Calibri"/>
              </a:rPr>
              <a:t>What caught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4663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0">
                <a:solidFill>
                  <a:srgbClr val="E8ECF1"/>
                </a:solidFill>
                <a:latin typeface="Calibri"/>
              </a:rPr>
              <a:t>EU AI Act logging and oversight for high-risk systems.</a:t>
            </a:r>
          </a:p>
          <a:p>
            <a:pPr>
              <a:spcAft>
                <a:spcPts val="1400"/>
              </a:spcAft>
            </a:pPr>
            <a:r>
              <a:rPr sz="1500" b="0">
                <a:solidFill>
                  <a:srgbClr val="E8ECF1"/>
                </a:solidFill>
                <a:latin typeface="Calibri"/>
              </a:rPr>
              <a:t>SOC 2 reviews starting to ask agent-shaped questions.</a:t>
            </a:r>
          </a:p>
          <a:p>
            <a:pPr>
              <a:spcAft>
                <a:spcPts val="1400"/>
              </a:spcAft>
            </a:pPr>
            <a:r>
              <a:rPr sz="1500" b="0">
                <a:solidFill>
                  <a:srgbClr val="E8ECF1"/>
                </a:solidFill>
                <a:latin typeface="Calibri"/>
              </a:rPr>
              <a:t>NIST AI RMF — provenance language is no longer optional-sounding.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5B5"/>
                </a:solidFill>
                <a:latin typeface="Calibri"/>
              </a:rPr>
              <a:t>We didn't start Salanor because agents are exciting. We started it because the receipts have to exist before the ugly incident.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5B5"/>
                </a:solidFill>
                <a:latin typeface="Calibri"/>
              </a:rPr>
              <a:t>Salanor  ·  Aegis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5B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73152" cy="411480"/>
          </a:xfrm>
          <a:prstGeom prst="rect">
            <a:avLst/>
          </a:prstGeom>
          <a:solidFill>
            <a:srgbClr val="C8A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Instrument once. Get a signed record.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5B5"/>
                </a:solidFill>
                <a:latin typeface="Calibri"/>
              </a:rPr>
              <a:t>Same job whether you write code or run workflows: capture → sign → enforce → chain → export.
Entry points differ. The ledger doesn't.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3291840"/>
          </a:xfrm>
          <a:prstGeom prst="roundRect">
            <a:avLst/>
          </a:prstGeom>
          <a:solidFill>
            <a:srgbClr val="141A22"/>
          </a:solidFill>
          <a:ln w="12700">
            <a:solidFill>
              <a:srgbClr val="2A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659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8A46E"/>
                </a:solidFill>
                <a:latin typeface="Calibri"/>
              </a:rPr>
              <a:t>In code — SDK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6888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E8ECF1"/>
                </a:solidFill>
                <a:latin typeface="Calibri"/>
              </a:rPr>
              <a:t>Wrap LangGraph, CrewAI, OpenAI Agents SDK, MCP tool calls.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E8ECF1"/>
                </a:solidFill>
                <a:latin typeface="Calibri"/>
              </a:rPr>
              <a:t>A few lines. Not a rewrite of your agent logic.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3291840"/>
          </a:xfrm>
          <a:prstGeom prst="roundRect">
            <a:avLst/>
          </a:prstGeom>
          <a:solidFill>
            <a:srgbClr val="141A22"/>
          </a:solidFill>
          <a:ln w="12700">
            <a:solidFill>
              <a:srgbClr val="2A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9659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8A46E"/>
                </a:solidFill>
                <a:latin typeface="Calibri"/>
              </a:rPr>
              <a:t>In workflows — connectors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46888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E8ECF1"/>
                </a:solidFill>
                <a:latin typeface="Calibri"/>
              </a:rPr>
              <a:t>n8n node first (shipping / in active use on our side).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E8ECF1"/>
                </a:solidFill>
                <a:latin typeface="Calibri"/>
              </a:rPr>
              <a:t>Same signed events into Aegis — for teams that don't live in an IDE.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E8ECF1"/>
                </a:solidFill>
                <a:latin typeface="Calibri"/>
              </a:rPr>
              <a:t>More connectors as partners ask for them.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49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1 Capture   ·   2 Sign (your KMS)   ·   3 Enforce (&lt;5ms p50)   ·   4 Chain   ·   5 Export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5B5"/>
                </a:solidFill>
                <a:latin typeface="Calibri"/>
              </a:rPr>
              <a:t>Salanor  ·  Aegis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5B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73152" cy="411480"/>
          </a:xfrm>
          <a:prstGeom prst="rect">
            <a:avLst/>
          </a:prstGeom>
          <a:solidFill>
            <a:srgbClr val="C8A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From action to something you can take to audit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651760" cy="3931920"/>
          </a:xfrm>
          <a:prstGeom prst="roundRect">
            <a:avLst/>
          </a:prstGeom>
          <a:solidFill>
            <a:srgbClr val="141A22"/>
          </a:solidFill>
          <a:ln w="12700">
            <a:solidFill>
              <a:srgbClr val="2A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8A46E"/>
                </a:solidFill>
                <a:latin typeface="Calibri"/>
              </a:rPr>
              <a:t>1. Instrument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286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CF1"/>
                </a:solidFill>
                <a:latin typeface="Calibri"/>
              </a:rPr>
              <a:t>SDK or n8n. Tool calls and LLM turns recorded as they happen.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371600"/>
            <a:ext cx="2651760" cy="3931920"/>
          </a:xfrm>
          <a:prstGeom prst="roundRect">
            <a:avLst/>
          </a:prstGeom>
          <a:solidFill>
            <a:srgbClr val="141A22"/>
          </a:solidFill>
          <a:ln w="12700">
            <a:solidFill>
              <a:srgbClr val="2A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6459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8A46E"/>
                </a:solidFill>
                <a:latin typeface="Calibri"/>
              </a:rPr>
              <a:t>2. Sign &amp; enforce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468880"/>
            <a:ext cx="2286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CF1"/>
                </a:solidFill>
                <a:latin typeface="Calibri"/>
              </a:rPr>
              <a:t>Signed at the point of action. Policy before it runs. Keys stay with you.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2651760" cy="3931920"/>
          </a:xfrm>
          <a:prstGeom prst="roundRect">
            <a:avLst/>
          </a:prstGeom>
          <a:solidFill>
            <a:srgbClr val="141A22"/>
          </a:solidFill>
          <a:ln w="12700">
            <a:solidFill>
              <a:srgbClr val="2A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8A46E"/>
                </a:solidFill>
                <a:latin typeface="Calibri"/>
              </a:rPr>
              <a:t>3. Ledger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68880"/>
            <a:ext cx="2286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CF1"/>
                </a:solidFill>
                <a:latin typeface="Calibri"/>
              </a:rPr>
              <a:t>Hash-chained. Merkle roots so others can verify without your keys.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371600"/>
            <a:ext cx="2651760" cy="3931920"/>
          </a:xfrm>
          <a:prstGeom prst="roundRect">
            <a:avLst/>
          </a:prstGeom>
          <a:solidFill>
            <a:srgbClr val="141A22"/>
          </a:solidFill>
          <a:ln w="12700">
            <a:solidFill>
              <a:srgbClr val="2A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16459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8A46E"/>
                </a:solidFill>
                <a:latin typeface="Calibri"/>
              </a:rPr>
              <a:t>4. 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2468880"/>
            <a:ext cx="2286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CF1"/>
                </a:solidFill>
                <a:latin typeface="Calibri"/>
              </a:rPr>
              <a:t>Rebuild a trace fast. Stream to Splunk, Datadog, or Sentinel.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5B5"/>
                </a:solidFill>
                <a:latin typeface="Calibri"/>
              </a:rPr>
              <a:t>Salanor  ·  Aegis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5B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73152" cy="411480"/>
          </a:xfrm>
          <a:prstGeom prst="rect">
            <a:avLst/>
          </a:prstGeom>
          <a:solidFill>
            <a:srgbClr val="C8A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you see in the console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1783080"/>
          </a:xfrm>
          <a:prstGeom prst="roundRect">
            <a:avLst/>
          </a:prstGeom>
          <a:solidFill>
            <a:srgbClr val="141A22"/>
          </a:solidFill>
          <a:ln w="12700">
            <a:solidFill>
              <a:srgbClr val="2A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002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Trace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5B5"/>
                </a:solidFill>
                <a:latin typeface="Calibri"/>
              </a:rPr>
              <a:t>Every step in order, signature on each 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5303520" cy="1783080"/>
          </a:xfrm>
          <a:prstGeom prst="roundRect">
            <a:avLst/>
          </a:prstGeom>
          <a:solidFill>
            <a:srgbClr val="141A22"/>
          </a:solidFill>
          <a:ln w="12700">
            <a:solidFill>
              <a:srgbClr val="2A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6002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Policy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4884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5B5"/>
                </a:solidFill>
                <a:latin typeface="Calibri"/>
              </a:rPr>
              <a:t>Allowed, blocked, and why — before the postmortem.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40"/>
            <a:ext cx="5303520" cy="1783080"/>
          </a:xfrm>
          <a:prstGeom prst="roundRect">
            <a:avLst/>
          </a:prstGeom>
          <a:solidFill>
            <a:srgbClr val="141A22"/>
          </a:solidFill>
          <a:ln w="12700">
            <a:solidFill>
              <a:srgbClr val="2A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11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Export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16052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5B5"/>
                </a:solidFill>
                <a:latin typeface="Calibri"/>
              </a:rPr>
              <a:t>A bundle an auditor can use. Not a raw dump.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291840"/>
            <a:ext cx="5303520" cy="1783080"/>
          </a:xfrm>
          <a:prstGeom prst="roundRect">
            <a:avLst/>
          </a:prstGeom>
          <a:solidFill>
            <a:srgbClr val="141A22"/>
          </a:solidFill>
          <a:ln w="12700">
            <a:solidFill>
              <a:srgbClr val="2A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3611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16052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5B5"/>
                </a:solidFill>
                <a:latin typeface="Calibri"/>
              </a:rPr>
              <a:t>Check a trace wasn't altered — without your keys.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23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A46E"/>
                </a:solidFill>
                <a:latin typeface="Calibri"/>
              </a:rPr>
              <a:t>docs.salanor.com   ·   app.salanor.com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5B5"/>
                </a:solidFill>
                <a:latin typeface="Calibri"/>
              </a:rPr>
              <a:t>Salanor  ·  Aegis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5B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73152" cy="411480"/>
          </a:xfrm>
          <a:prstGeom prst="rect">
            <a:avLst/>
          </a:prstGeom>
          <a:solidFill>
            <a:srgbClr val="C8A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format is open. We sell the infrastructure.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698480" cy="914400"/>
          </a:xfrm>
          <a:prstGeom prst="roundRect">
            <a:avLst/>
          </a:prstGeom>
          <a:solidFill>
            <a:srgbClr val="141A22"/>
          </a:solidFill>
          <a:ln w="12700">
            <a:solidFill>
              <a:srgbClr val="2A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4904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8A46E"/>
                </a:solidFill>
                <a:latin typeface="Calibri"/>
              </a:rPr>
              <a:t>APS-1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490472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CF1"/>
                </a:solidFill>
                <a:latin typeface="Calibri"/>
              </a:rPr>
              <a:t>Open provenance standard for agent events. CC BY 4.0.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10698480" cy="914400"/>
          </a:xfrm>
          <a:prstGeom prst="roundRect">
            <a:avLst/>
          </a:prstGeom>
          <a:solidFill>
            <a:srgbClr val="141A22"/>
          </a:solidFill>
          <a:ln w="12700">
            <a:solidFill>
              <a:srgbClr val="2A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5420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8A46E"/>
                </a:solidFill>
                <a:latin typeface="Calibri"/>
              </a:rPr>
              <a:t>Free verifier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542032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CF1"/>
                </a:solidFill>
                <a:latin typeface="Calibri"/>
              </a:rPr>
              <a:t>MIT CLI. Audit a trace without Salanor being online.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37560"/>
            <a:ext cx="10698480" cy="914400"/>
          </a:xfrm>
          <a:prstGeom prst="roundRect">
            <a:avLst/>
          </a:prstGeom>
          <a:solidFill>
            <a:srgbClr val="141A22"/>
          </a:solidFill>
          <a:ln w="12700">
            <a:solidFill>
              <a:srgbClr val="2A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5935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8A46E"/>
                </a:solidFill>
                <a:latin typeface="Calibri"/>
              </a:rPr>
              <a:t>What we sell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593592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CF1"/>
                </a:solidFill>
                <a:latin typeface="Calibri"/>
              </a:rPr>
              <a:t>Managed control plane: hosting, policy, storage, exports.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10698480" cy="914400"/>
          </a:xfrm>
          <a:prstGeom prst="roundRect">
            <a:avLst/>
          </a:prstGeom>
          <a:solidFill>
            <a:srgbClr val="141A22"/>
          </a:solidFill>
          <a:ln w="12700">
            <a:solidFill>
              <a:srgbClr val="2A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6451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8A46E"/>
                </a:solidFill>
                <a:latin typeface="Calibri"/>
              </a:rPr>
              <a:t>BYOK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645152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CF1"/>
                </a:solidFill>
                <a:latin typeface="Calibri"/>
              </a:rPr>
              <a:t>Your keys. Ed25519. We can't rewrite your history. That's the point.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5B5"/>
                </a:solidFill>
                <a:latin typeface="Calibri"/>
              </a:rPr>
              <a:t>Salanor  ·  Aegis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5B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73152" cy="411480"/>
          </a:xfrm>
          <a:prstGeom prst="rect">
            <a:avLst/>
          </a:prstGeom>
          <a:solidFill>
            <a:srgbClr val="C8A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Who this is for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3383280" cy="2468880"/>
          </a:xfrm>
          <a:prstGeom prst="roundRect">
            <a:avLst/>
          </a:prstGeom>
          <a:solidFill>
            <a:srgbClr val="141A22"/>
          </a:solidFill>
          <a:ln w="12700">
            <a:solidFill>
              <a:srgbClr val="2A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Banks &amp; fintech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5B5"/>
                </a:solidFill>
                <a:latin typeface="Calibri"/>
              </a:rPr>
              <a:t>Model risk before agents touch underwriting or fraud.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383280" cy="2468880"/>
          </a:xfrm>
          <a:prstGeom prst="roundRect">
            <a:avLst/>
          </a:prstGeom>
          <a:solidFill>
            <a:srgbClr val="141A22"/>
          </a:solidFill>
          <a:ln w="12700">
            <a:solidFill>
              <a:srgbClr val="2A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4630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Health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574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5B5"/>
                </a:solidFill>
                <a:latin typeface="Calibri"/>
              </a:rPr>
              <a:t>Governance that won't approve autonomous triage without a reviewable trail.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34440"/>
            <a:ext cx="3383280" cy="2468880"/>
          </a:xfrm>
          <a:prstGeom prst="roundRect">
            <a:avLst/>
          </a:prstGeom>
          <a:solidFill>
            <a:srgbClr val="141A22"/>
          </a:solidFill>
          <a:ln w="12700">
            <a:solidFill>
              <a:srgbClr val="2A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4630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Enterprise platforms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0574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5B5"/>
                </a:solidFill>
                <a:latin typeface="Calibri"/>
              </a:rPr>
              <a:t>You ship agents to customers. They'll ask what your product actually did.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10698480" cy="1554480"/>
          </a:xfrm>
          <a:prstGeom prst="roundRect">
            <a:avLst/>
          </a:prstGeom>
          <a:solidFill>
            <a:srgbClr val="141A22"/>
          </a:solidFill>
          <a:ln w="12700">
            <a:solidFill>
              <a:srgbClr val="2A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114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8A46E"/>
                </a:solidFill>
                <a:latin typeface="Calibri"/>
              </a:rPr>
              <a:t>Insurance — later, on purpose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CF1"/>
                </a:solidFill>
                <a:latin typeface="Calibri"/>
              </a:rPr>
              <a:t>Carriers will need evidence before they price agent liability. That's Aether (risk / telemetry on top of signed Aegis patterns) — research, 2027.
Aegis first: the people running agents. Insurers second: once there's a trail worth underwriting.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5B5"/>
                </a:solidFill>
                <a:latin typeface="Calibri"/>
              </a:rPr>
              <a:t>Salanor  ·  Aegis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5B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73152" cy="411480"/>
          </a:xfrm>
          <a:prstGeom prst="rect">
            <a:avLst/>
          </a:prstGeom>
          <a:solidFill>
            <a:srgbClr val="C8A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Where we 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5B5"/>
                </a:solidFill>
                <a:latin typeface="Calibri"/>
              </a:rPr>
              <a:t>We're not another observability dashboard. Those help engineers. They aren't signed provenance for audit.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698480" cy="822960"/>
          </a:xfrm>
          <a:prstGeom prst="roundRect">
            <a:avLst/>
          </a:prstGeom>
          <a:solidFill>
            <a:srgbClr val="141A22"/>
          </a:solidFill>
          <a:ln w="12700">
            <a:solidFill>
              <a:srgbClr val="2A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Agent frameworks / n8n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8288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CF1"/>
                </a:solidFill>
                <a:latin typeface="Calibri"/>
              </a:rPr>
              <a:t>Run agents and workflows. Don't produce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10698480" cy="822960"/>
          </a:xfrm>
          <a:prstGeom prst="roundRect">
            <a:avLst/>
          </a:prstGeom>
          <a:solidFill>
            <a:srgbClr val="141A22"/>
          </a:solidFill>
          <a:ln w="12700">
            <a:solidFill>
              <a:srgbClr val="2A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788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LLM observability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78892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CF1"/>
                </a:solidFill>
                <a:latin typeface="Calibri"/>
              </a:rPr>
              <a:t>Debug traces. Editable. Built for eng, not auditors.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0440"/>
            <a:ext cx="10698480" cy="822960"/>
          </a:xfrm>
          <a:prstGeom prst="roundRect">
            <a:avLst/>
          </a:prstGeom>
          <a:solidFill>
            <a:srgbClr val="141A22"/>
          </a:solidFill>
          <a:ln w="12700">
            <a:solidFill>
              <a:srgbClr val="2A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749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SIEM / generic logs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74904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CF1"/>
                </a:solidFill>
                <a:latin typeface="Calibri"/>
              </a:rPr>
              <a:t>Can store events. Don't sign, chain, or export agent-shaped bundles.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80560"/>
            <a:ext cx="10698480" cy="822960"/>
          </a:xfrm>
          <a:prstGeom prst="roundRect">
            <a:avLst/>
          </a:prstGeom>
          <a:solidFill>
            <a:srgbClr val="141A22"/>
          </a:solidFill>
          <a:ln w="12700">
            <a:solidFill>
              <a:srgbClr val="2A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709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8A46E"/>
                </a:solidFill>
                <a:latin typeface="Calibri"/>
              </a:rPr>
              <a:t>Aegis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70916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CF1"/>
                </a:solidFill>
                <a:latin typeface="Calibri"/>
              </a:rPr>
              <a:t>Signed, hash-chained provenance + policy in path + exports. SDK and connectors.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5B5"/>
                </a:solidFill>
                <a:latin typeface="Calibri"/>
              </a:rPr>
              <a:t>Salanor  ·  Aegis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5B5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73152" cy="411480"/>
          </a:xfrm>
          <a:prstGeom prst="rect">
            <a:avLst/>
          </a:prstGeom>
          <a:solidFill>
            <a:srgbClr val="C8A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Where we 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2651760" cy="1554480"/>
          </a:xfrm>
          <a:prstGeom prst="roundRect">
            <a:avLst/>
          </a:prstGeom>
          <a:solidFill>
            <a:srgbClr val="141A22"/>
          </a:solidFill>
          <a:ln w="12700">
            <a:solidFill>
              <a:srgbClr val="2A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46E"/>
                </a:solidFill>
                <a:latin typeface="Calibri"/>
              </a:rPr>
              <a:t>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CF1"/>
                </a:solidFill>
                <a:latin typeface="Calibri"/>
              </a:rPr>
              <a:t>Prototype → design partner pilots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234440"/>
            <a:ext cx="2651760" cy="1554480"/>
          </a:xfrm>
          <a:prstGeom prst="roundRect">
            <a:avLst/>
          </a:prstGeom>
          <a:solidFill>
            <a:srgbClr val="141A22"/>
          </a:solidFill>
          <a:ln w="12700">
            <a:solidFill>
              <a:srgbClr val="2A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417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46E"/>
                </a:solidFill>
                <a:latin typeface="Calibri"/>
              </a:rPr>
              <a:t>HQ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828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CF1"/>
                </a:solidFill>
                <a:latin typeface="Calibri"/>
              </a:rPr>
              <a:t>Kigali, Rwanda (Salanor Ltd)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34440"/>
            <a:ext cx="2651760" cy="1554480"/>
          </a:xfrm>
          <a:prstGeom prst="roundRect">
            <a:avLst/>
          </a:prstGeom>
          <a:solidFill>
            <a:srgbClr val="141A22"/>
          </a:solidFill>
          <a:ln w="12700">
            <a:solidFill>
              <a:srgbClr val="2A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46E"/>
                </a:solidFill>
                <a:latin typeface="Calibri"/>
              </a:rPr>
              <a:t>GTM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CF1"/>
                </a:solidFill>
                <a:latin typeface="Calibri"/>
              </a:rPr>
              <a:t>Sales-led. One conversation at a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234440"/>
            <a:ext cx="2651760" cy="1554480"/>
          </a:xfrm>
          <a:prstGeom prst="roundRect">
            <a:avLst/>
          </a:prstGeom>
          <a:solidFill>
            <a:srgbClr val="141A22"/>
          </a:solidFill>
          <a:ln w="12700">
            <a:solidFill>
              <a:srgbClr val="2A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1417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46E"/>
                </a:solidFill>
                <a:latin typeface="Calibri"/>
              </a:rPr>
              <a:t>Aegis 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1828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CF1"/>
                </a:solidFill>
                <a:latin typeface="Calibri"/>
              </a:rPr>
              <a:t>Target Q4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08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In flight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5661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9AA5B5"/>
                </a:solidFill>
                <a:latin typeface="Calibri"/>
              </a:rPr>
              <a:t>· Console — traces, policy, exports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9AA5B5"/>
                </a:solidFill>
                <a:latin typeface="Calibri"/>
              </a:rPr>
              <a:t>· APS-1 ingest + policy in the hot path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9AA5B5"/>
                </a:solidFill>
                <a:latin typeface="Calibri"/>
              </a:rPr>
              <a:t>· Compliance export bundles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9AA5B5"/>
                </a:solidFill>
                <a:latin typeface="Calibri"/>
              </a:rPr>
              <a:t>· n8n connector alongside the SDK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9AA5B5"/>
                </a:solidFill>
                <a:latin typeface="Calibri"/>
              </a:rPr>
              <a:t>· Spec + verifier already public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5B5"/>
                </a:solidFill>
                <a:latin typeface="Calibri"/>
              </a:rPr>
              <a:t>Salanor  ·  Aegis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5B5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73152" cy="411480"/>
          </a:xfrm>
          <a:prstGeom prst="rect">
            <a:avLst/>
          </a:prstGeom>
          <a:solidFill>
            <a:srgbClr val="C8A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How we charge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3657600"/>
          </a:xfrm>
          <a:prstGeom prst="roundRect">
            <a:avLst/>
          </a:prstGeom>
          <a:solidFill>
            <a:srgbClr val="141A22"/>
          </a:solidFill>
          <a:ln w="12700">
            <a:solidFill>
              <a:srgbClr val="2A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508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8A46E"/>
                </a:solidFill>
                <a:latin typeface="Calibri"/>
              </a:rPr>
              <a:t>SaaS control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E8ECF1"/>
                </a:solidFill>
                <a:latin typeface="Calibri"/>
              </a:rPr>
              <a:t>Per organization.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E8ECF1"/>
                </a:solidFill>
                <a:latin typeface="Calibri"/>
              </a:rPr>
              <a:t>Tiers by event volume and team size.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E8ECF1"/>
                </a:solidFill>
                <a:latin typeface="Calibri"/>
              </a:rPr>
              <a:t>Enterprise: SSO, region, retention, SLA.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212080" cy="3657600"/>
          </a:xfrm>
          <a:prstGeom prst="roundRect">
            <a:avLst/>
          </a:prstGeom>
          <a:solidFill>
            <a:srgbClr val="141A22"/>
          </a:solidFill>
          <a:ln w="12700">
            <a:solidFill>
              <a:srgbClr val="2A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508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8A46E"/>
                </a:solidFill>
                <a:latin typeface="Calibri"/>
              </a:rPr>
              <a:t>What's 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01168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E8ECF1"/>
                </a:solidFill>
                <a:latin typeface="Calibri"/>
              </a:rPr>
              <a:t>APS-1 stays free.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E8ECF1"/>
                </a:solidFill>
                <a:latin typeface="Calibri"/>
              </a:rPr>
              <a:t>Verifier stays free.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E8ECF1"/>
                </a:solidFill>
                <a:latin typeface="Calibri"/>
              </a:rPr>
              <a:t>We make money running Aegis — not locking the format.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12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5B5"/>
                </a:solidFill>
                <a:latin typeface="Calibri"/>
              </a:rPr>
              <a:t>No self-serve billing yet. Early customers are ops-led while we get pricing right. No fake ARR projections on this slide.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5B5"/>
                </a:solidFill>
                <a:latin typeface="Calibri"/>
              </a:rPr>
              <a:t>Salanor  ·  Aegis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5B5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73152" cy="411480"/>
          </a:xfrm>
          <a:prstGeom prst="rect">
            <a:avLst/>
          </a:prstGeom>
          <a:solidFill>
            <a:srgbClr val="C8A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Team &amp; ask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12080" cy="3200400"/>
          </a:xfrm>
          <a:prstGeom prst="roundRect">
            <a:avLst/>
          </a:prstGeom>
          <a:solidFill>
            <a:srgbClr val="141A22"/>
          </a:solidFill>
          <a:ln w="12700">
            <a:solidFill>
              <a:srgbClr val="2A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4173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Landry Bougang Fotso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A46E"/>
                </a:solidFill>
                <a:latin typeface="Calibri"/>
              </a:rPr>
              <a:t>Founder &amp; 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860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5B5"/>
                </a:solidFill>
                <a:latin typeface="Calibri"/>
              </a:rPr>
              <a:t>Building the layer that lets high-stakes agent decisions be explained later — not just executed.
Previously Aether (air quality) via Rwanda's Plug-In Ventures; pivoted here after discovery.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212080" cy="3200400"/>
          </a:xfrm>
          <a:prstGeom prst="roundRect">
            <a:avLst/>
          </a:prstGeom>
          <a:solidFill>
            <a:srgbClr val="141A22"/>
          </a:solidFill>
          <a:ln w="12700">
            <a:solidFill>
              <a:srgbClr val="2A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4173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 few design partners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96596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E8ECF1"/>
                </a:solidFill>
                <a:latin typeface="Calibri"/>
              </a:rPr>
              <a:t>1. Agents where being wrong is expensive.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E8ECF1"/>
                </a:solidFill>
                <a:latin typeface="Calibri"/>
              </a:rPr>
              <a:t>2. You need signed provenance before scaling past pilot.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E8ECF1"/>
                </a:solidFill>
                <a:latin typeface="Calibri"/>
              </a:rPr>
              <a:t>3. Compliance/legal will help shape exports they'd accept.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A46E"/>
                </a:solidFill>
                <a:latin typeface="Calibri"/>
              </a:rPr>
              <a:t>partners@salanor.com
salanor.com  ·  docs.salanor.com  ·  salanor.com/spec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52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5B5"/>
                </a:solidFill>
                <a:latin typeface="Calibri"/>
              </a:rPr>
              <a:t>Aegis — provenance you can take to audit.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5B5"/>
                </a:solidFill>
                <a:latin typeface="Calibri"/>
              </a:rPr>
              <a:t>Salanor  ·  Aegis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5B5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